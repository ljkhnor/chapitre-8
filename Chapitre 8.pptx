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7" r:id="rId6"/>
    <p:sldId id="273" r:id="rId7"/>
    <p:sldId id="261" r:id="rId8"/>
    <p:sldId id="274" r:id="rId9"/>
    <p:sldId id="275" r:id="rId10"/>
    <p:sldId id="262" r:id="rId11"/>
    <p:sldId id="263" r:id="rId12"/>
    <p:sldId id="276" r:id="rId13"/>
    <p:sldId id="264" r:id="rId14"/>
    <p:sldId id="265" r:id="rId15"/>
    <p:sldId id="277" r:id="rId16"/>
    <p:sldId id="279" r:id="rId17"/>
    <p:sldId id="266" r:id="rId18"/>
    <p:sldId id="280" r:id="rId19"/>
    <p:sldId id="281" r:id="rId20"/>
    <p:sldId id="282" r:id="rId21"/>
    <p:sldId id="268" r:id="rId22"/>
    <p:sldId id="269" r:id="rId23"/>
    <p:sldId id="283" r:id="rId24"/>
    <p:sldId id="270" r:id="rId25"/>
    <p:sldId id="284" r:id="rId26"/>
    <p:sldId id="285" r:id="rId27"/>
    <p:sldId id="286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431B6-3A00-4766-A1BA-84EAE27D4D09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CCB19-7AD8-499A-A877-01712F007E0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43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Problèmes potentiels :</a:t>
            </a:r>
          </a:p>
          <a:p>
            <a:r>
              <a:rPr lang="fr-BE" dirty="0"/>
              <a:t>• Bugs cachés et/ou difficiles à cibler</a:t>
            </a:r>
          </a:p>
          <a:p>
            <a:r>
              <a:rPr lang="fr-BE" dirty="0"/>
              <a:t>• Rétrocompatibilité vs. évolution du langage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CCB19-7AD8-499A-A877-01712F007E07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1037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E8470-05FE-B905-CBC3-8D6478E9E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FA7791A-EF7D-FE69-5D4A-2147E869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6151D8-47EB-7F20-BBFF-4D1EB55B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B16200-AE09-DD79-4872-E00A8B96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29A57D-9394-F1B8-198C-C3E20185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2750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8E48BF-5EEE-BAF1-A460-F22CD0E7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83AD6C-471A-308D-C47A-E6A1AD44C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770884-2B0C-36CA-0C5E-C03B0B58C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2E1E8D-3870-EA09-997D-C9E593A1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DFE1AF-B64F-6AC1-4EFD-AFF4E074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22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154AD-B08B-FD8F-2401-2331F200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727617-7145-10D5-19F3-6C912EBFD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A8F015-F754-5B50-3D9B-38078225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AC2E4D-69D2-4D55-3D63-A39E2B1FF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8F2FDE-C9A1-2FEB-5622-6C7A30A7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151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01D8E-6C02-E747-B52E-E0CE79A3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BE4778-649A-CDFF-6597-D66EF85A2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BDAEE1-A961-8D21-D1BF-877A28168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C75331-667A-3911-5477-F2C58242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726B67-CBF6-1C2A-9CDC-F707650D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14990A-9068-41D0-9A9E-8F918AB0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846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332A5-5EB9-1363-FEB4-EB359A88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4A5D81-9685-8368-E0C5-D296255C3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56B308-3C78-A9C5-DFCD-6487EF34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C46ACA-CDDE-A88B-2C5B-74C531C04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D31456-DE12-CBF2-B0A4-9B02FE3CD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63A03C-F48E-D05D-E4EE-C0A39078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8196607-F312-0F80-3A60-AA64AFE2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EB1EEA1-8C51-639B-8411-D1495F42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7377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E71A59-2504-A2C4-AB24-6DD5E4F3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B02C6F-97B8-C54D-8AD5-143FCDE5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48AC8CA-B9F1-E9AC-48BB-5E66FA62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7B2B92-3ECD-1483-9AF1-8188ED89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872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FF019BD-299B-4F3C-CCE7-74A72818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1B032D-8D68-E25C-980B-0D4B788D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F6535B-F6A8-B63C-25CE-3C259919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01633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E3265-741E-86F0-41BF-D0DB5A2D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608CE7-252E-A490-6516-937AF27D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A7E920-C707-75CE-39F1-C4CAD0E41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BC79C8-5DC1-FFDE-6239-5AA11736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B99966-40EE-05D5-5103-76F5D2B5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2E2117-923D-7304-81B3-1940BFF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378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D92DD-E3F5-D063-CDFF-E9D078EFA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EAD0EE0-7BC7-9083-3FFA-0A56F5638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75D867-6B2F-6A22-D9E5-22EDB956B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F2651B-BEC9-E7F0-39EF-94FB30F9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1A74DA-5BEE-D8C8-A31B-75CE25A3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108FE-62E9-BB92-502D-CDB4C0FD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2442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DC1B10-80D0-ED77-C73F-B7D716F8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5016399-1C59-7C69-ED57-C86C0AF6B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A1E7A1-8BEE-3A44-43EE-1A42E52B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4F1EB8-DB95-3F58-F841-6FBB5756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015432-C1F5-3D04-7930-684A5CDF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6542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FA873DC-6951-2024-47D3-92FCE5112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26FDCC-9973-D944-928D-527073346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0467C2-5A8D-21DC-342E-E7286836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AD28D4-83A6-52F4-1E95-F73FC93B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71A60-CFC0-4A81-EC3E-2B594FEB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3817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BFB5AE5-1E66-D764-4FEC-FF1424F1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ABBC92-FD9A-BCEE-1D71-04E2A5EAB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1DD252-ED99-80BE-4B56-D17547C3F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78F18-C92B-44E1-AE66-633DAA2AA103}" type="datetimeFigureOut">
              <a:rPr lang="fr-BE" smtClean="0"/>
              <a:t>04-02-26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18F3E3-5D80-7EEB-8A62-1E3CE65ED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CEADA4-7A56-DB19-F4A7-4D16A6599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4D679-A433-4AEE-BE51-422EC4BED497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52402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D9817-AAD7-BA29-E49B-7408C5100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850D4C-AB8A-A34A-F5CF-E6E9CE852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082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AEC00-E3FB-38E3-2A52-F95BCA13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FD568-860B-6905-CD7B-EF0A605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18/10/25 – Chapitre 2. Introduction web – HTML et CSS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08/11/25 – Chapitre 3. Introduction web – Arborescence et Formulaire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22/11/25 – Chapitre 4. Introduction Team Workflow - Git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06/12/25 – Chapitre 5. Introduction à Javascript, Variables et valeurs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10/01/26 – Chapitre 6. Javascript : Fonctions, tableaux, objets, prototypes et constructeurs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24/01/26 - Chapitre 7. Javascript : DOM et programmation évènementiel, expression régulière</a:t>
            </a:r>
          </a:p>
          <a:p>
            <a:r>
              <a:rPr lang="fr-B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07/02/26 - Chapitre 8. Javascript : Fonctions avancées et compléments</a:t>
            </a:r>
          </a:p>
          <a:p>
            <a:r>
              <a:rPr lang="fr-BE" dirty="0"/>
              <a:t>21/02/26 - Chapitre 9. Révisons</a:t>
            </a:r>
          </a:p>
          <a:p>
            <a:r>
              <a:rPr lang="fr-BE" dirty="0"/>
              <a:t>14/03/26 -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 Chapitre 1.</a:t>
            </a:r>
          </a:p>
          <a:p>
            <a:r>
              <a:rPr lang="fr-BE" dirty="0"/>
              <a:t>11/04/26 –  Chapitre 2.</a:t>
            </a:r>
          </a:p>
          <a:p>
            <a:r>
              <a:rPr lang="fr-BE" dirty="0"/>
              <a:t>25/04/26 –  Chapitre 3.</a:t>
            </a:r>
          </a:p>
          <a:p>
            <a:r>
              <a:rPr lang="fr-BE" dirty="0"/>
              <a:t>23/05/26 - Examen 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45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9DC0C-9518-89AB-600F-73D5B1FB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FC5CE4-2B28-6EFB-82F8-A1771A352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  <a:p>
            <a:pPr lvl="1"/>
            <a:r>
              <a:rPr lang="fr-BE" dirty="0"/>
              <a:t>Gestion des paramètres de fonctions</a:t>
            </a:r>
          </a:p>
          <a:p>
            <a:pPr lvl="2"/>
            <a:r>
              <a:rPr lang="fr-BE" dirty="0"/>
              <a:t>Paramètres optionnels, valeurs par défaut</a:t>
            </a:r>
          </a:p>
          <a:p>
            <a:pPr lvl="2"/>
            <a:r>
              <a:rPr lang="fr-BE" dirty="0"/>
              <a:t>Surcharge</a:t>
            </a:r>
          </a:p>
          <a:p>
            <a:pPr lvl="2"/>
            <a:r>
              <a:rPr lang="fr-BE" dirty="0"/>
              <a:t>Paramètres en nombre indéterminé</a:t>
            </a:r>
          </a:p>
          <a:p>
            <a:pPr lvl="2"/>
            <a:r>
              <a:rPr lang="fr-BE" dirty="0"/>
              <a:t>Déstructuration </a:t>
            </a:r>
          </a:p>
          <a:p>
            <a:pPr lvl="1"/>
            <a:r>
              <a:rPr lang="fr-BE" dirty="0"/>
              <a:t>Le mot clef « </a:t>
            </a:r>
            <a:r>
              <a:rPr lang="fr-BE" dirty="0" err="1"/>
              <a:t>this</a:t>
            </a:r>
            <a:r>
              <a:rPr lang="fr-BE" dirty="0"/>
              <a:t> »</a:t>
            </a:r>
          </a:p>
          <a:p>
            <a:pPr lvl="1"/>
            <a:r>
              <a:rPr lang="fr-BE" dirty="0"/>
              <a:t>Fonctions comme objets de premier ordre</a:t>
            </a:r>
          </a:p>
        </p:txBody>
      </p:sp>
    </p:spTree>
    <p:extLst>
      <p:ext uri="{BB962C8B-B14F-4D97-AF65-F5344CB8AC3E}">
        <p14:creationId xmlns:p14="http://schemas.microsoft.com/office/powerpoint/2010/main" val="377627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EBCF-4CD8-6630-E730-834D5EDB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8B5E7-135C-CD63-F022-4603CF9A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D281A0-C0DD-6C6D-59FA-4FB500389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Compléments</a:t>
            </a:r>
          </a:p>
          <a:p>
            <a:pPr lvl="1"/>
            <a:r>
              <a:rPr lang="fr-BE" dirty="0"/>
              <a:t>Mode strict et mode normal</a:t>
            </a:r>
          </a:p>
          <a:p>
            <a:pPr lvl="1"/>
            <a:r>
              <a:rPr lang="fr-BE" dirty="0"/>
              <a:t>JSON</a:t>
            </a:r>
          </a:p>
          <a:p>
            <a:pPr lvl="1"/>
            <a:r>
              <a:rPr lang="fr-BE" dirty="0"/>
              <a:t>L’orienté objet en ES6</a:t>
            </a:r>
          </a:p>
          <a:p>
            <a:pPr lvl="1"/>
            <a:r>
              <a:rPr lang="fr-BE" dirty="0"/>
              <a:t>jQuery</a:t>
            </a:r>
          </a:p>
        </p:txBody>
      </p:sp>
    </p:spTree>
    <p:extLst>
      <p:ext uri="{BB962C8B-B14F-4D97-AF65-F5344CB8AC3E}">
        <p14:creationId xmlns:p14="http://schemas.microsoft.com/office/powerpoint/2010/main" val="42714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15BE4-7238-EB10-BC2C-3D8993ED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2F6EA0-768D-A767-474D-1A8E53FD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48895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F695-1F8A-3433-23F2-E3C41A15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C62FA-6C0F-54C3-A71F-0A591F247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FBECF1-061B-AB99-EE1D-1B68FD03F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Rappel</a:t>
            </a:r>
          </a:p>
          <a:p>
            <a:pPr lvl="1"/>
            <a:r>
              <a:rPr lang="fr-FR" dirty="0"/>
              <a:t>Aucun contrôle de type de paramètre</a:t>
            </a:r>
          </a:p>
          <a:p>
            <a:pPr lvl="1"/>
            <a:r>
              <a:rPr lang="fr-FR" dirty="0"/>
              <a:t>Aucune déclaration de type de paramètre</a:t>
            </a:r>
          </a:p>
          <a:p>
            <a:pPr lvl="1"/>
            <a:r>
              <a:rPr lang="fr-FR" dirty="0"/>
              <a:t>Aucun contrôle du nombre de paramètre</a:t>
            </a:r>
          </a:p>
          <a:p>
            <a:pPr lvl="2"/>
            <a:r>
              <a:rPr lang="fr-FR" dirty="0"/>
              <a:t>Pas assez ou trop, peu importe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4200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551B3F-613C-7230-2907-4BA7A22C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818FAD-9E55-A5E7-831F-8F1C665F1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Gestion des paramètres de fonctions</a:t>
            </a:r>
          </a:p>
          <a:p>
            <a:pPr lvl="1"/>
            <a:r>
              <a:rPr lang="fr-BE" dirty="0"/>
              <a:t>Paramètres optionnels, valeurs par défaut</a:t>
            </a:r>
          </a:p>
          <a:p>
            <a:pPr lvl="2"/>
            <a:r>
              <a:rPr lang="fr-BE" dirty="0"/>
              <a:t>Cas 1 : paramètre optionnel simple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 conversion de classe en booléen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 </a:t>
            </a:r>
            <a:r>
              <a:rPr lang="fr-BE" dirty="0" err="1">
                <a:sym typeface="Wingdings" panose="05000000000000000000" pitchFamily="2" charset="2"/>
              </a:rPr>
              <a:t>undefined</a:t>
            </a:r>
            <a:r>
              <a:rPr lang="fr-BE" dirty="0">
                <a:sym typeface="Wingdings" panose="05000000000000000000" pitchFamily="2" charset="2"/>
              </a:rPr>
              <a:t>  false</a:t>
            </a:r>
            <a:endParaRPr lang="fr-BE" dirty="0"/>
          </a:p>
        </p:txBody>
      </p:sp>
      <p:pic>
        <p:nvPicPr>
          <p:cNvPr id="5" name="Image 4" descr="Une image contenant texte, Police, écriture manuscri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B62CD1C-2D77-3A42-06B4-E46079AC4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13" y="3581557"/>
            <a:ext cx="4810796" cy="215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412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2F1C-4137-55F1-2491-735C35F8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07FE9-8555-EA53-3404-A36DBC3B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8F9ED7-84F3-FD3A-88CD-55CD73B52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Gestion des paramètres de fonctions</a:t>
            </a:r>
          </a:p>
          <a:p>
            <a:pPr lvl="1"/>
            <a:r>
              <a:rPr lang="fr-BE" dirty="0"/>
              <a:t>Paramètres optionnels, valeurs par défaut</a:t>
            </a:r>
          </a:p>
          <a:p>
            <a:pPr lvl="2"/>
            <a:r>
              <a:rPr lang="fr-BE" dirty="0"/>
              <a:t>Cas 2 : paramètre optionnel avec valeur par défaut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 conversion de classe en booléen</a:t>
            </a:r>
          </a:p>
        </p:txBody>
      </p:sp>
      <p:pic>
        <p:nvPicPr>
          <p:cNvPr id="6" name="Image 5" descr="Une image contenant texte, Polic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EE6091D0-1261-0D39-BA24-5F3F6BB58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024" y="3584352"/>
            <a:ext cx="3419952" cy="1714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 7" descr="Une image contenant texte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41C20EEB-8C72-7B9D-78AC-A6368283F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60" y="4727625"/>
            <a:ext cx="3181794" cy="990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882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8BBD-1775-B3C1-014C-2F46599B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A5CBF-5C66-A122-6B5F-010E3068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B32B0C-6960-8155-9FEE-6BA37F56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Gestion des paramètres de fonctions</a:t>
            </a:r>
          </a:p>
          <a:p>
            <a:pPr lvl="1"/>
            <a:r>
              <a:rPr lang="fr-BE" dirty="0"/>
              <a:t>Paramètres optionnels, valeurs par défaut</a:t>
            </a:r>
          </a:p>
          <a:p>
            <a:pPr lvl="2"/>
            <a:r>
              <a:rPr lang="fr-BE" dirty="0"/>
              <a:t>Cas 2bis : paramètre optionnel avec valeur par défaut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 conversion de classe en booléen</a:t>
            </a:r>
          </a:p>
          <a:p>
            <a:pPr lvl="2"/>
            <a:endParaRPr lang="fr-BE" dirty="0">
              <a:sym typeface="Wingdings" panose="05000000000000000000" pitchFamily="2" charset="2"/>
            </a:endParaRPr>
          </a:p>
          <a:p>
            <a:pPr lvl="2"/>
            <a:r>
              <a:rPr lang="fr-BE" dirty="0">
                <a:sym typeface="Wingdings" panose="05000000000000000000" pitchFamily="2" charset="2"/>
              </a:rPr>
              <a:t>Seul </a:t>
            </a:r>
            <a:r>
              <a:rPr lang="fr-BE" dirty="0" err="1">
                <a:sym typeface="Wingdings" panose="05000000000000000000" pitchFamily="2" charset="2"/>
              </a:rPr>
              <a:t>undefined</a:t>
            </a:r>
            <a:r>
              <a:rPr lang="fr-BE" dirty="0">
                <a:sym typeface="Wingdings" panose="05000000000000000000" pitchFamily="2" charset="2"/>
              </a:rPr>
              <a:t> déclenche l’utilisation de </a:t>
            </a:r>
            <a:br>
              <a:rPr lang="fr-BE" dirty="0">
                <a:sym typeface="Wingdings" panose="05000000000000000000" pitchFamily="2" charset="2"/>
              </a:rPr>
            </a:br>
            <a:r>
              <a:rPr lang="fr-BE" dirty="0">
                <a:sym typeface="Wingdings" panose="05000000000000000000" pitchFamily="2" charset="2"/>
              </a:rPr>
              <a:t>la valeur par défaut</a:t>
            </a:r>
          </a:p>
          <a:p>
            <a:pPr lvl="2"/>
            <a:endParaRPr lang="fr-BE" dirty="0">
              <a:sym typeface="Wingdings" panose="05000000000000000000" pitchFamily="2" charset="2"/>
            </a:endParaRPr>
          </a:p>
          <a:p>
            <a:pPr lvl="2"/>
            <a:r>
              <a:rPr lang="fr-BE" dirty="0">
                <a:sym typeface="Wingdings" panose="05000000000000000000" pitchFamily="2" charset="2"/>
              </a:rPr>
              <a:t>On peut utiliser le paramètre précédent comme valeur par défaut</a:t>
            </a:r>
          </a:p>
          <a:p>
            <a:pPr lvl="2"/>
            <a:endParaRPr lang="fr-BE" dirty="0"/>
          </a:p>
        </p:txBody>
      </p:sp>
      <p:pic>
        <p:nvPicPr>
          <p:cNvPr id="6" name="Image 5" descr="Une image contenant texte, Polic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01AB3061-B744-7D93-0B98-75C661CE5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215" y="3429000"/>
            <a:ext cx="4372585" cy="1009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 7" descr="Une image contenant texte, Polic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40B0CEA4-EA59-1D2A-73DC-EE441241C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312" y="5080007"/>
            <a:ext cx="5201376" cy="962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596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DB4D-202A-C53B-6210-0C4D1C1C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F612D2-5555-1D01-B728-A4AC378B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816BAC-CACA-6C01-D084-B71D13C00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Gestion des paramètres de fonctions</a:t>
            </a:r>
          </a:p>
          <a:p>
            <a:pPr lvl="1"/>
            <a:r>
              <a:rPr lang="fr-BE" dirty="0"/>
              <a:t>Surcharge</a:t>
            </a:r>
          </a:p>
          <a:p>
            <a:pPr lvl="2"/>
            <a:r>
              <a:rPr lang="fr-BE" dirty="0"/>
              <a:t>Si on définit deux fois la même fonction (nom), seule la dernière compte.</a:t>
            </a:r>
          </a:p>
          <a:p>
            <a:pPr lvl="3"/>
            <a:r>
              <a:rPr lang="fr-BE" dirty="0"/>
              <a:t>Il faut donc traiter tous les cas en une seule fonction</a:t>
            </a:r>
          </a:p>
          <a:p>
            <a:pPr lvl="2"/>
            <a:endParaRPr lang="fr-BE" dirty="0"/>
          </a:p>
          <a:p>
            <a:pPr lvl="2"/>
            <a:r>
              <a:rPr lang="fr-BE" dirty="0"/>
              <a:t>Rien n’empêche de définir plusieurs fonctions </a:t>
            </a:r>
            <a:br>
              <a:rPr lang="fr-BE" dirty="0"/>
            </a:br>
            <a:r>
              <a:rPr lang="fr-BE" dirty="0"/>
              <a:t>de noms différents pour chaque cas</a:t>
            </a:r>
          </a:p>
        </p:txBody>
      </p:sp>
      <p:pic>
        <p:nvPicPr>
          <p:cNvPr id="5" name="Image 4" descr="Une image contenant texte, Police, écriture manuscrite, Bleu électrique&#10;&#10;Le contenu généré par l’IA peut être incorrect.">
            <a:extLst>
              <a:ext uri="{FF2B5EF4-FFF2-40B4-BE49-F238E27FC236}">
                <a16:creationId xmlns:a16="http://schemas.microsoft.com/office/drawing/2014/main" id="{7E348C6E-396A-BDFE-5932-3526E0AF2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226" y="3024525"/>
            <a:ext cx="4001058" cy="1752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 descr="Une image contenant texte, Police, ligne, Bleu électrique&#10;&#10;Le contenu généré par l’IA peut être incorrect.">
            <a:extLst>
              <a:ext uri="{FF2B5EF4-FFF2-40B4-BE49-F238E27FC236}">
                <a16:creationId xmlns:a16="http://schemas.microsoft.com/office/drawing/2014/main" id="{6C4E5B7E-A0BB-F449-C9AD-A16F621AC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40" y="4886534"/>
            <a:ext cx="7039957" cy="1181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173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2AB7D-3296-FF7C-240B-EB59E21C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87049-8DE2-1232-E7B4-0751E0F8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01496F-B4EB-E3FC-01C6-EBCD5ADA7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Gestion des paramètres de fonctions</a:t>
            </a:r>
          </a:p>
          <a:p>
            <a:pPr lvl="1"/>
            <a:r>
              <a:rPr lang="fr-BE" dirty="0"/>
              <a:t>Paramètres en nombre indéterminé</a:t>
            </a:r>
          </a:p>
          <a:p>
            <a:pPr lvl="2"/>
            <a:r>
              <a:rPr lang="fr-BE" dirty="0"/>
              <a:t>Fonction qui peut être appelé avec un nombre quelconque d’arguments</a:t>
            </a:r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Le « …valeurs » est un « </a:t>
            </a:r>
            <a:r>
              <a:rPr lang="fr-BE" dirty="0" err="1"/>
              <a:t>rest</a:t>
            </a:r>
            <a:r>
              <a:rPr lang="fr-BE" dirty="0"/>
              <a:t> </a:t>
            </a:r>
            <a:r>
              <a:rPr lang="fr-BE" dirty="0" err="1"/>
              <a:t>parameter</a:t>
            </a:r>
            <a:r>
              <a:rPr lang="fr-BE" dirty="0"/>
              <a:t> » rassemble tous les arguments en un tableau.</a:t>
            </a:r>
          </a:p>
          <a:p>
            <a:pPr lvl="2"/>
            <a:r>
              <a:rPr lang="fr-BE" dirty="0"/>
              <a:t>Un seul paramètre « </a:t>
            </a:r>
            <a:r>
              <a:rPr lang="fr-BE" dirty="0" err="1"/>
              <a:t>rest</a:t>
            </a:r>
            <a:r>
              <a:rPr lang="fr-BE" dirty="0"/>
              <a:t> » par fonction </a:t>
            </a:r>
            <a:r>
              <a:rPr lang="fr-BE" b="1" u="sng" dirty="0"/>
              <a:t>et</a:t>
            </a:r>
            <a:r>
              <a:rPr lang="fr-BE" dirty="0"/>
              <a:t> en dernière position</a:t>
            </a:r>
          </a:p>
        </p:txBody>
      </p:sp>
      <p:pic>
        <p:nvPicPr>
          <p:cNvPr id="5" name="Image 4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D0BF99B-82BA-76BC-0F4A-589994ECA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759" y="3191556"/>
            <a:ext cx="5782482" cy="161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430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26F98-3730-23C3-1BCC-1F52443F3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D8589-2E9B-FBEF-34D5-2AB371EF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46885B-902B-77EE-2C8B-AD6D510C0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Gestion des paramètres de fonctions</a:t>
            </a:r>
          </a:p>
          <a:p>
            <a:pPr lvl="1"/>
            <a:r>
              <a:rPr lang="fr-BE" dirty="0"/>
              <a:t>Paramètres en nombre indéterminé</a:t>
            </a:r>
          </a:p>
          <a:p>
            <a:pPr lvl="2"/>
            <a:r>
              <a:rPr lang="fr-BE" dirty="0"/>
              <a:t>Le pendant du « </a:t>
            </a:r>
            <a:r>
              <a:rPr lang="fr-BE" dirty="0" err="1"/>
              <a:t>rest</a:t>
            </a:r>
            <a:r>
              <a:rPr lang="fr-BE" dirty="0"/>
              <a:t> » est le « spread </a:t>
            </a:r>
            <a:r>
              <a:rPr lang="fr-BE" dirty="0" err="1"/>
              <a:t>operator</a:t>
            </a:r>
            <a:r>
              <a:rPr lang="fr-BE" dirty="0"/>
              <a:t> »</a:t>
            </a:r>
          </a:p>
          <a:p>
            <a:pPr lvl="3"/>
            <a:r>
              <a:rPr lang="fr-BE" dirty="0" err="1"/>
              <a:t>Rest</a:t>
            </a:r>
            <a:r>
              <a:rPr lang="fr-BE" dirty="0"/>
              <a:t> : liste d’arguments </a:t>
            </a:r>
            <a:r>
              <a:rPr lang="fr-BE" dirty="0">
                <a:sym typeface="Wingdings" panose="05000000000000000000" pitchFamily="2" charset="2"/>
              </a:rPr>
              <a:t> tableau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Spread : tableau  liste d’arguments</a:t>
            </a:r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985706-0FF0-663C-72F6-44B7B7862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01" y="3725030"/>
            <a:ext cx="6077798" cy="552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999ECCC-49F5-745C-8825-A9336DFDD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129" y="4412494"/>
            <a:ext cx="3705742" cy="333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CB06A01-06E1-3817-63B6-28BEA1E1D4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64" y="4931944"/>
            <a:ext cx="6068272" cy="590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31137D5-F136-02E8-D71A-FA1EEC9F06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943" y="5784135"/>
            <a:ext cx="5830114" cy="323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0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E034-A44C-FE3B-3A6D-855F1603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BB0FFA-6D1F-E722-DA96-C223D3EF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7161FB-B168-025A-8EFB-4814D40D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Gestion des paramètres de fonctions</a:t>
            </a:r>
          </a:p>
          <a:p>
            <a:pPr lvl="1"/>
            <a:r>
              <a:rPr lang="fr-BE" dirty="0"/>
              <a:t>Déstructuration </a:t>
            </a:r>
          </a:p>
          <a:p>
            <a:pPr lvl="2"/>
            <a:r>
              <a:rPr lang="fr-BE" dirty="0"/>
              <a:t>Permet d’accéder directement aux composantes d’une valeur structurée.</a:t>
            </a:r>
          </a:p>
          <a:p>
            <a:pPr lvl="3"/>
            <a:r>
              <a:rPr lang="fr-BE" dirty="0"/>
              <a:t>Valeur structurée = objets et tableaux (ou collections)</a:t>
            </a:r>
          </a:p>
          <a:p>
            <a:pPr lvl="3"/>
            <a:r>
              <a:rPr lang="fr-BE" dirty="0"/>
              <a:t>Accéder directement = les associer à un nom de variable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A80952-F3A9-1AD7-0BA3-FE9BCA969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024" y="3696451"/>
            <a:ext cx="3419952" cy="3048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 9" descr="Une image contenant texte, Polic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EC3AB672-556F-EFBB-B006-0108F83D3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099" y="4107916"/>
            <a:ext cx="6801799" cy="1000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Image 11" descr="Une image contenant texte, Polic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1E0F5049-069E-5F83-C672-F71F59EB8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601" y="5214804"/>
            <a:ext cx="4448796" cy="962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783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A01480-1CF5-5E07-8BD1-F5F3F7F8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1C2637-679C-9797-5C80-C4BB58DF3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mot clef « </a:t>
            </a:r>
            <a:r>
              <a:rPr lang="fr-BE" dirty="0" err="1"/>
              <a:t>this</a:t>
            </a:r>
            <a:r>
              <a:rPr lang="fr-BE" dirty="0"/>
              <a:t> » - Signification</a:t>
            </a:r>
          </a:p>
          <a:p>
            <a:pPr lvl="1"/>
            <a:r>
              <a:rPr lang="fr-BE" dirty="0"/>
              <a:t>En Javascript, une fonction peut être</a:t>
            </a:r>
          </a:p>
          <a:p>
            <a:pPr lvl="2"/>
            <a:r>
              <a:rPr lang="fr-BE" dirty="0"/>
              <a:t>Une fonction simple (affiche(</a:t>
            </a:r>
            <a:r>
              <a:rPr lang="fr-BE" dirty="0" err="1"/>
              <a:t>h,m</a:t>
            </a:r>
            <a:r>
              <a:rPr lang="fr-BE" dirty="0"/>
              <a:t>);)</a:t>
            </a:r>
          </a:p>
          <a:p>
            <a:pPr lvl="2"/>
            <a:r>
              <a:rPr lang="fr-BE" dirty="0"/>
              <a:t>Une méthode (d’un objet : </a:t>
            </a:r>
            <a:r>
              <a:rPr lang="fr-BE" dirty="0" err="1"/>
              <a:t>heureDébut.afficheHeure</a:t>
            </a:r>
            <a:r>
              <a:rPr lang="fr-BE" dirty="0"/>
              <a:t>();)</a:t>
            </a:r>
          </a:p>
          <a:p>
            <a:pPr lvl="2"/>
            <a:r>
              <a:rPr lang="fr-BE" dirty="0"/>
              <a:t>Un constructeur (new Heure(15,30);)</a:t>
            </a:r>
          </a:p>
          <a:p>
            <a:pPr lvl="2"/>
            <a:endParaRPr lang="fr-BE" dirty="0"/>
          </a:p>
          <a:p>
            <a:pPr lvl="1"/>
            <a:r>
              <a:rPr lang="fr-BE" dirty="0"/>
              <a:t>En Javascript, ces 3 cas sont représentés de la même manière. Ce sont des différences d’utilisation. C’est la manière dont on appelle une fonction qui détermine ce que </a:t>
            </a:r>
            <a:r>
              <a:rPr lang="fr-BE" dirty="0" err="1"/>
              <a:t>this</a:t>
            </a:r>
            <a:r>
              <a:rPr lang="fr-BE" dirty="0"/>
              <a:t> signifie.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2417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4A1B6-6090-521E-BCBC-340B9692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91964-E1CF-C358-642D-C6046269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FF442F-6F22-98CF-9CB0-69D2722B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mot clef « </a:t>
            </a:r>
            <a:r>
              <a:rPr lang="fr-BE" dirty="0" err="1"/>
              <a:t>this</a:t>
            </a:r>
            <a:r>
              <a:rPr lang="fr-BE" dirty="0"/>
              <a:t> » - Exemple 1</a:t>
            </a:r>
          </a:p>
          <a:p>
            <a:pPr lvl="1"/>
            <a:r>
              <a:rPr lang="fr-BE" dirty="0"/>
              <a:t>Un compteur intégré sous la forme d’un objet</a:t>
            </a:r>
          </a:p>
          <a:p>
            <a:pPr lvl="1"/>
            <a:endParaRPr lang="fr-BE" dirty="0"/>
          </a:p>
          <a:p>
            <a:pPr lvl="1"/>
            <a:r>
              <a:rPr lang="fr-BE" dirty="0"/>
              <a:t>Utilisation du compteur</a:t>
            </a:r>
          </a:p>
          <a:p>
            <a:pPr lvl="1"/>
            <a:endParaRPr lang="fr-BE" dirty="0"/>
          </a:p>
          <a:p>
            <a:pPr lvl="1"/>
            <a:r>
              <a:rPr lang="fr-BE" dirty="0"/>
              <a:t>A tester</a:t>
            </a:r>
          </a:p>
          <a:p>
            <a:pPr lvl="1"/>
            <a:endParaRPr lang="fr-BE" dirty="0"/>
          </a:p>
          <a:p>
            <a:endParaRPr lang="fr-BE" dirty="0"/>
          </a:p>
        </p:txBody>
      </p:sp>
      <p:pic>
        <p:nvPicPr>
          <p:cNvPr id="5" name="Image 4" descr="Une image contenant texte, Polic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B9E078B9-3016-385C-6E54-F383FD481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633" y="2314419"/>
            <a:ext cx="2715004" cy="1114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 descr="Une image contenant Police, texte, Bleu électrique, conception&#10;&#10;Le contenu généré par l’IA peut être incorrect.">
            <a:extLst>
              <a:ext uri="{FF2B5EF4-FFF2-40B4-BE49-F238E27FC236}">
                <a16:creationId xmlns:a16="http://schemas.microsoft.com/office/drawing/2014/main" id="{C9F8AE78-8F75-824D-EF63-B35C076EC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767" y="3182030"/>
            <a:ext cx="1743318" cy="819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 descr="Une image contenant texte, Police, blanc&#10;&#10;Le contenu généré par l’IA peut être incorrect.">
            <a:extLst>
              <a:ext uri="{FF2B5EF4-FFF2-40B4-BE49-F238E27FC236}">
                <a16:creationId xmlns:a16="http://schemas.microsoft.com/office/drawing/2014/main" id="{B9F07B08-86D1-446A-C79C-D41D717F9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683" y="4332126"/>
            <a:ext cx="2915057" cy="828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582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70341-C9EB-3115-3188-0805B26E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7E7E89-CB24-E668-1083-39734080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CEEC65-998C-0AD0-FF51-976C95F7A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Le mot clef « </a:t>
            </a:r>
            <a:r>
              <a:rPr lang="fr-BE" dirty="0" err="1"/>
              <a:t>this</a:t>
            </a:r>
            <a:r>
              <a:rPr lang="fr-BE" dirty="0"/>
              <a:t> » - Exemple 2</a:t>
            </a:r>
          </a:p>
          <a:p>
            <a:pPr lvl="1"/>
            <a:r>
              <a:rPr lang="fr-BE" dirty="0"/>
              <a:t>Un compteur intégré sous la forme d’un objet</a:t>
            </a:r>
          </a:p>
          <a:p>
            <a:pPr lvl="1"/>
            <a:endParaRPr lang="fr-BE" dirty="0"/>
          </a:p>
          <a:p>
            <a:pPr lvl="1"/>
            <a:r>
              <a:rPr lang="fr-BE" dirty="0"/>
              <a:t>Utilisation de </a:t>
            </a:r>
            <a:r>
              <a:rPr lang="fr-BE" dirty="0" err="1"/>
              <a:t>setTimeout</a:t>
            </a:r>
            <a:r>
              <a:rPr lang="fr-BE" dirty="0"/>
              <a:t> (rappels)</a:t>
            </a:r>
          </a:p>
          <a:p>
            <a:pPr lvl="1"/>
            <a:endParaRPr lang="fr-BE" dirty="0"/>
          </a:p>
          <a:p>
            <a:pPr lvl="1"/>
            <a:r>
              <a:rPr lang="fr-BE" dirty="0"/>
              <a:t>A tester</a:t>
            </a:r>
          </a:p>
          <a:p>
            <a:pPr lvl="1"/>
            <a:endParaRPr lang="fr-BE" dirty="0"/>
          </a:p>
          <a:p>
            <a:endParaRPr lang="fr-BE" dirty="0"/>
          </a:p>
        </p:txBody>
      </p:sp>
      <p:pic>
        <p:nvPicPr>
          <p:cNvPr id="6" name="Image 5" descr="Une image contenant Police, text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96BAE6A4-07DE-FB09-8A38-81767F3C6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442" y="2257261"/>
            <a:ext cx="2734057" cy="1171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38CDD0C-B0F6-2A99-3D9A-B93A3C367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463" y="3563937"/>
            <a:ext cx="5068007" cy="552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Image 11" descr="Une image contenant texte, Police, blanc&#10;&#10;Le contenu généré par l’IA peut être incorrect.">
            <a:extLst>
              <a:ext uri="{FF2B5EF4-FFF2-40B4-BE49-F238E27FC236}">
                <a16:creationId xmlns:a16="http://schemas.microsoft.com/office/drawing/2014/main" id="{61D790CD-5031-3C9B-FD4F-6D69CD399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503" y="4401258"/>
            <a:ext cx="3477110" cy="8478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622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4382A-1471-036B-11C1-5A583F4F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429FFB-1A2B-732F-41CC-CD3E1BAD8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Fonctions comme objets de premier ordre – Fonctions anonymes</a:t>
            </a:r>
          </a:p>
          <a:p>
            <a:pPr lvl="1"/>
            <a:r>
              <a:rPr lang="fr-BE" dirty="0"/>
              <a:t>Exemple </a:t>
            </a:r>
          </a:p>
          <a:p>
            <a:pPr lvl="2"/>
            <a:r>
              <a:rPr lang="fr-BE" dirty="0"/>
              <a:t>Utiliser une valeur (numérique) sans lui attribuer de nom</a:t>
            </a:r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Utiliser une valeur (fonctionnelle) sans lui attribuer de nom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9B46E6-4308-31E6-26FF-5F667DE5C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600" y="3105105"/>
            <a:ext cx="6620799" cy="6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7A9F57F-C92F-DA2E-2F7C-B720742454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27" y="4413164"/>
            <a:ext cx="6382641" cy="619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35D155B-3708-99AC-34A8-4ABD77A8C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55" y="5302064"/>
            <a:ext cx="6077798" cy="390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A068226-A670-E040-3DBB-E69D132AE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196" y="5921276"/>
            <a:ext cx="5334744" cy="419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315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D881F-7839-ADA4-C390-A1D7F30C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4A185-963F-E7BF-C5B1-09E7A055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E2C71A-350B-B11C-4D82-9C77EA7B8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Fonctions comme objets de premier ordre – Fonctions anonymes</a:t>
            </a:r>
          </a:p>
          <a:p>
            <a:pPr lvl="1"/>
            <a:r>
              <a:rPr lang="fr-BE" dirty="0"/>
              <a:t>Syntaxe « Big Arrow » : argument(s) =&gt; résultat</a:t>
            </a:r>
          </a:p>
          <a:p>
            <a:pPr lvl="2"/>
            <a:r>
              <a:rPr lang="fr-BE" dirty="0"/>
              <a:t>Argument(s)</a:t>
            </a:r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Résultat</a:t>
            </a:r>
          </a:p>
          <a:p>
            <a:pPr lvl="2"/>
            <a:endParaRPr lang="fr-BE" dirty="0"/>
          </a:p>
          <a:p>
            <a:pPr lvl="2"/>
            <a:r>
              <a:rPr lang="fr-BE" dirty="0"/>
              <a:t>Exemple</a:t>
            </a:r>
          </a:p>
        </p:txBody>
      </p:sp>
      <p:pic>
        <p:nvPicPr>
          <p:cNvPr id="5" name="Image 4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9EF49BCD-B930-69E5-87EE-67A12003D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313" y="2756037"/>
            <a:ext cx="3162741" cy="952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 descr="Une image contenant Police, texte, écriture manuscrite, calligraphie&#10;&#10;Le contenu généré par l’IA peut être incorrect.">
            <a:extLst>
              <a:ext uri="{FF2B5EF4-FFF2-40B4-BE49-F238E27FC236}">
                <a16:creationId xmlns:a16="http://schemas.microsoft.com/office/drawing/2014/main" id="{61C1BB60-7A86-90AE-B184-E2965EA0F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313" y="4085508"/>
            <a:ext cx="2772162" cy="533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 descr="Une image contenant texte, Police, écriture manuscrite, Bleu électrique&#10;&#10;Le contenu généré par l’IA peut être incorrect.">
            <a:extLst>
              <a:ext uri="{FF2B5EF4-FFF2-40B4-BE49-F238E27FC236}">
                <a16:creationId xmlns:a16="http://schemas.microsoft.com/office/drawing/2014/main" id="{E7298DF2-28B8-BF97-2D84-352C8511D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579" y="4995820"/>
            <a:ext cx="6468378" cy="1019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463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919294-B9B0-57CF-8FF9-296013E5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B44392-C81A-D87A-5CAE-C803151D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Objets de premier ordre</a:t>
            </a:r>
          </a:p>
          <a:p>
            <a:pPr lvl="1"/>
            <a:r>
              <a:rPr lang="fr-BE" dirty="0"/>
              <a:t>Cela signifie que</a:t>
            </a:r>
          </a:p>
          <a:p>
            <a:pPr lvl="2"/>
            <a:r>
              <a:rPr lang="fr-BE" dirty="0"/>
              <a:t>On peut placer une valeur fonctionnelle dans une variable</a:t>
            </a:r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On peut passer une fonction comme argument d’une fonction</a:t>
            </a:r>
          </a:p>
          <a:p>
            <a:pPr lvl="2"/>
            <a:endParaRPr lang="fr-BE" dirty="0"/>
          </a:p>
          <a:p>
            <a:pPr lvl="2"/>
            <a:endParaRPr lang="fr-BE" dirty="0"/>
          </a:p>
          <a:p>
            <a:pPr lvl="2"/>
            <a:r>
              <a:rPr lang="fr-BE" dirty="0"/>
              <a:t>Une fonction peut  renvoyer une fonction comme résultat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151303-EE38-8F5B-47E8-9CE57E882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5" y="3083605"/>
            <a:ext cx="5449060" cy="533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4322DF8-AA69-8A2E-F4D9-3213C34EA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5" y="4096810"/>
            <a:ext cx="5582429" cy="533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 descr="Une image contenant texte, Police, écriture manuscrite, ligne&#10;&#10;Le contenu généré par l’IA peut être incorrect.">
            <a:extLst>
              <a:ext uri="{FF2B5EF4-FFF2-40B4-BE49-F238E27FC236}">
                <a16:creationId xmlns:a16="http://schemas.microsoft.com/office/drawing/2014/main" id="{C6CA2F20-F856-B940-EF80-2C4A029F8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14" y="5110015"/>
            <a:ext cx="6354062" cy="1076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536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0AB0-A5AA-DEF5-B116-07C43E00D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3597F-5BB2-CD54-9CC8-5AEB5BAB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Fonctions avancées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FB870E-CA44-92CB-9C77-3DF857AB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Objets de premier ordre</a:t>
            </a:r>
          </a:p>
          <a:p>
            <a:pPr lvl="1"/>
            <a:r>
              <a:rPr lang="fr-BE" dirty="0"/>
              <a:t>Quelques méthodes de haut niveau sur les tableaux</a:t>
            </a:r>
          </a:p>
          <a:p>
            <a:pPr lvl="2"/>
            <a:r>
              <a:rPr lang="fr-BE" dirty="0" err="1"/>
              <a:t>Tab.forEach</a:t>
            </a:r>
            <a:r>
              <a:rPr lang="fr-BE" dirty="0"/>
              <a:t>(f) : exécute la fonction f sur chaque élément du tab</a:t>
            </a:r>
          </a:p>
          <a:p>
            <a:pPr lvl="2"/>
            <a:r>
              <a:rPr lang="fr-BE" dirty="0" err="1"/>
              <a:t>Tab.map</a:t>
            </a:r>
            <a:r>
              <a:rPr lang="fr-BE" dirty="0"/>
              <a:t>(f) : renvoie le tableau obtenu en remplaçant chaque élément x du tableau par f(x)</a:t>
            </a:r>
          </a:p>
          <a:p>
            <a:pPr lvl="2"/>
            <a:r>
              <a:rPr lang="fr-BE" dirty="0" err="1"/>
              <a:t>Tab.every</a:t>
            </a:r>
            <a:r>
              <a:rPr lang="fr-BE" dirty="0"/>
              <a:t>(f) : indique si tous les éléments vérifient f (f s’appelle alors un prédicat)</a:t>
            </a:r>
          </a:p>
          <a:p>
            <a:pPr lvl="2"/>
            <a:r>
              <a:rPr lang="fr-BE" dirty="0" err="1"/>
              <a:t>Tab.some</a:t>
            </a:r>
            <a:r>
              <a:rPr lang="fr-BE" dirty="0"/>
              <a:t>(f) : indique si au moins un élément vérifie f</a:t>
            </a:r>
          </a:p>
          <a:p>
            <a:pPr lvl="2"/>
            <a:r>
              <a:rPr lang="fr-BE" dirty="0" err="1"/>
              <a:t>Tab.filter</a:t>
            </a:r>
            <a:r>
              <a:rPr lang="fr-BE" dirty="0"/>
              <a:t>(f) : renvoie les éléments qui vérifient f</a:t>
            </a:r>
          </a:p>
        </p:txBody>
      </p:sp>
    </p:spTree>
    <p:extLst>
      <p:ext uri="{BB962C8B-B14F-4D97-AF65-F5344CB8AC3E}">
        <p14:creationId xmlns:p14="http://schemas.microsoft.com/office/powerpoint/2010/main" val="84669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6D9D5-8468-99F2-9156-4B62034F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06FED0-5CDD-08A2-C758-5EB27159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7089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BAE5B4-2E47-4FCC-21AD-DB95ADBF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E8140F-78CD-0494-07C6-7DD419A01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Mode normal</a:t>
            </a:r>
          </a:p>
          <a:p>
            <a:pPr lvl="1"/>
            <a:r>
              <a:rPr lang="fr-BE" dirty="0"/>
              <a:t>Erreurs passées sous silence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r>
              <a:rPr lang="fr-BE" dirty="0"/>
              <a:t>Facilités pour accepter du code imparfait</a:t>
            </a:r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r>
              <a:rPr lang="fr-BE" dirty="0"/>
              <a:t>Des conventions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8606CF-FF22-DED0-17CF-5814E86E5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158" y="2680307"/>
            <a:ext cx="7287642" cy="828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6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2E44D347-89C1-F0D8-1E81-CB8DF0CB3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263" y="4274663"/>
            <a:ext cx="7249537" cy="924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CB19A33-DAF6-A6B6-6C6F-EF6B7C6407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316" y="5659789"/>
            <a:ext cx="7230484" cy="771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106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F3742-68D4-9249-472D-F1572FB6F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17702-50FF-D1C4-BD75-6BC25A8C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59795-1DC3-2509-8FF8-9986A01C1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Mode strict</a:t>
            </a:r>
          </a:p>
          <a:p>
            <a:pPr lvl="1"/>
            <a:r>
              <a:rPr lang="fr-BE" dirty="0"/>
              <a:t>Comment passer en mode strict</a:t>
            </a:r>
          </a:p>
          <a:p>
            <a:pPr lvl="2"/>
            <a:r>
              <a:rPr lang="fr-BE" dirty="0"/>
              <a:t>La première instruction d’un bloc de script ou d’un script complet doit commencer par « use strict »</a:t>
            </a:r>
          </a:p>
          <a:p>
            <a:pPr lvl="2"/>
            <a:endParaRPr lang="fr-BE" dirty="0"/>
          </a:p>
          <a:p>
            <a:pPr lvl="2"/>
            <a:r>
              <a:rPr lang="fr-BE" dirty="0"/>
              <a:t>Attention à la portée</a:t>
            </a:r>
          </a:p>
        </p:txBody>
      </p:sp>
      <p:pic>
        <p:nvPicPr>
          <p:cNvPr id="5" name="Image 4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3CDFDF6-BB57-8CE1-F470-D61BD79D2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958" y="3058960"/>
            <a:ext cx="4048690" cy="1448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478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5E72-F873-1B6D-FF38-8B7193C1D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F8F8C2-B19B-EA35-7605-5F469E89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349054-4040-B316-DE74-1C19C36E5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JSON – sérialisation</a:t>
            </a:r>
          </a:p>
          <a:p>
            <a:pPr lvl="1"/>
            <a:r>
              <a:rPr lang="fr-BE" dirty="0"/>
              <a:t>Contexte :</a:t>
            </a:r>
          </a:p>
          <a:p>
            <a:pPr lvl="2"/>
            <a:r>
              <a:rPr lang="fr-BE" dirty="0"/>
              <a:t>Quand un programme se termine, les données disparaissent.</a:t>
            </a:r>
          </a:p>
          <a:p>
            <a:pPr lvl="2"/>
            <a:r>
              <a:rPr lang="fr-BE" dirty="0"/>
              <a:t>Comment les rendre permanentes ?</a:t>
            </a:r>
          </a:p>
          <a:p>
            <a:pPr lvl="2"/>
            <a:r>
              <a:rPr lang="fr-BE" dirty="0"/>
              <a:t>Comment structurer les données ?</a:t>
            </a:r>
          </a:p>
          <a:p>
            <a:pPr lvl="3"/>
            <a:r>
              <a:rPr lang="fr-BE" dirty="0"/>
              <a:t>Tableau de nombres </a:t>
            </a:r>
            <a:r>
              <a:rPr lang="fr-BE" dirty="0">
                <a:sym typeface="Wingdings" panose="05000000000000000000" pitchFamily="2" charset="2"/>
              </a:rPr>
              <a:t> écrire les nombres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Texte  écrire les caractères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Objet  ???</a:t>
            </a:r>
          </a:p>
          <a:p>
            <a:pPr lvl="3"/>
            <a:endParaRPr lang="fr-BE" dirty="0">
              <a:sym typeface="Wingdings" panose="05000000000000000000" pitchFamily="2" charset="2"/>
            </a:endParaRPr>
          </a:p>
          <a:p>
            <a:pPr lvl="1"/>
            <a:r>
              <a:rPr lang="fr-BE" dirty="0">
                <a:sym typeface="Wingdings" panose="05000000000000000000" pitchFamily="2" charset="2"/>
              </a:rPr>
              <a:t>Sérialiser c’est transformer un objet en un format mieux adapté pour le stockage à long terme (sous forme binaire, </a:t>
            </a:r>
            <a:r>
              <a:rPr lang="fr-BE" dirty="0" err="1">
                <a:sym typeface="Wingdings" panose="05000000000000000000" pitchFamily="2" charset="2"/>
              </a:rPr>
              <a:t>Json</a:t>
            </a:r>
            <a:r>
              <a:rPr lang="fr-BE" dirty="0">
                <a:sym typeface="Wingdings" panose="05000000000000000000" pitchFamily="2" charset="2"/>
              </a:rPr>
              <a:t>, XML, …)</a:t>
            </a: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9412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4837-2F5C-C002-D419-9A0D2FB8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35D9F-B6D5-405E-C310-EBFC6B05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81CD7-98FC-DA46-5FE6-E669AAECA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JSON – en pratique</a:t>
            </a:r>
          </a:p>
          <a:p>
            <a:pPr lvl="1"/>
            <a:r>
              <a:rPr lang="fr-BE" dirty="0"/>
              <a:t>JSON = Javascript Object Notation</a:t>
            </a:r>
          </a:p>
          <a:p>
            <a:pPr lvl="1"/>
            <a:r>
              <a:rPr lang="fr-BE" dirty="0"/>
              <a:t>Basé sur la syntaxe des littéraux de type objet</a:t>
            </a:r>
          </a:p>
          <a:p>
            <a:pPr marL="0" indent="0">
              <a:buNone/>
            </a:pPr>
            <a:endParaRPr lang="fr-BE" dirty="0"/>
          </a:p>
        </p:txBody>
      </p:sp>
      <p:pic>
        <p:nvPicPr>
          <p:cNvPr id="7" name="Image 6" descr="Une image contenant texte, Police, ligne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5C9443C5-7576-745C-EA20-BFA1AC81E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742" y="3352007"/>
            <a:ext cx="5077534" cy="2553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200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2612-8923-C85E-958D-6A37D44E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2F1EB-E664-E371-C7F1-EBF68A64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9B805-7FCF-98AA-FAFC-3CCBD6684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JSON – Structure</a:t>
            </a:r>
          </a:p>
          <a:p>
            <a:pPr lvl="1"/>
            <a:r>
              <a:rPr lang="fr-BE" dirty="0"/>
              <a:t>Objet = suite de paires clefs / valeurs entre accolades</a:t>
            </a:r>
          </a:p>
          <a:p>
            <a:pPr lvl="1"/>
            <a:r>
              <a:rPr lang="fr-BE" dirty="0"/>
              <a:t>Valeurs autorisées</a:t>
            </a:r>
          </a:p>
          <a:p>
            <a:pPr lvl="2"/>
            <a:r>
              <a:rPr lang="fr-BE" dirty="0"/>
              <a:t>Booléen</a:t>
            </a:r>
          </a:p>
          <a:p>
            <a:pPr lvl="2"/>
            <a:r>
              <a:rPr lang="fr-BE" dirty="0"/>
              <a:t>Nombres</a:t>
            </a:r>
          </a:p>
          <a:p>
            <a:pPr lvl="2"/>
            <a:r>
              <a:rPr lang="fr-BE" dirty="0"/>
              <a:t>Chaines de caractères entre guillemets</a:t>
            </a:r>
          </a:p>
          <a:p>
            <a:pPr lvl="2"/>
            <a:r>
              <a:rPr lang="fr-BE" dirty="0" err="1"/>
              <a:t>Null</a:t>
            </a:r>
            <a:endParaRPr lang="fr-BE" dirty="0"/>
          </a:p>
          <a:p>
            <a:pPr lvl="2"/>
            <a:r>
              <a:rPr lang="fr-BE" dirty="0"/>
              <a:t>Objet</a:t>
            </a:r>
          </a:p>
          <a:p>
            <a:pPr lvl="2"/>
            <a:r>
              <a:rPr lang="fr-BE" dirty="0"/>
              <a:t>tableau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5440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9C33-B4CA-D138-D58B-46953105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Compléments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929247-AE15-A1FD-2C29-820E05E66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JSON – Transformation</a:t>
            </a:r>
          </a:p>
          <a:p>
            <a:pPr lvl="1"/>
            <a:r>
              <a:rPr lang="fr-BE" dirty="0"/>
              <a:t>Via l’API de JSON</a:t>
            </a:r>
          </a:p>
          <a:p>
            <a:pPr lvl="2"/>
            <a:r>
              <a:rPr lang="fr-BE" dirty="0"/>
              <a:t>Javascript vers JSON</a:t>
            </a:r>
          </a:p>
          <a:p>
            <a:pPr lvl="3"/>
            <a:r>
              <a:rPr lang="fr-BE" dirty="0" err="1"/>
              <a:t>JSON.stringify</a:t>
            </a:r>
            <a:r>
              <a:rPr lang="fr-BE" dirty="0"/>
              <a:t>(</a:t>
            </a:r>
            <a:r>
              <a:rPr lang="fr-BE" dirty="0" err="1"/>
              <a:t>obj</a:t>
            </a:r>
            <a:r>
              <a:rPr lang="fr-BE" dirty="0"/>
              <a:t>)</a:t>
            </a:r>
          </a:p>
          <a:p>
            <a:pPr lvl="2"/>
            <a:r>
              <a:rPr lang="fr-BE" dirty="0"/>
              <a:t>JSON vers objet Javascript</a:t>
            </a:r>
          </a:p>
          <a:p>
            <a:pPr lvl="3"/>
            <a:r>
              <a:rPr lang="fr-BE" dirty="0"/>
              <a:t>Let </a:t>
            </a:r>
            <a:r>
              <a:rPr lang="fr-BE" dirty="0" err="1"/>
              <a:t>obj</a:t>
            </a:r>
            <a:r>
              <a:rPr lang="fr-BE" dirty="0"/>
              <a:t> = </a:t>
            </a:r>
            <a:r>
              <a:rPr lang="fr-BE" dirty="0" err="1"/>
              <a:t>JSON.parse</a:t>
            </a:r>
            <a:r>
              <a:rPr lang="fr-BE" dirty="0"/>
              <a:t>(chaine)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5618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1030</Words>
  <Application>Microsoft Office PowerPoint</Application>
  <PresentationFormat>Grand écran</PresentationFormat>
  <Paragraphs>201</Paragraphs>
  <Slides>27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Thème Office</vt:lpstr>
      <vt:lpstr>Module 1 – Programmation web Frontend</vt:lpstr>
      <vt:lpstr>Planning</vt:lpstr>
      <vt:lpstr>Planning</vt:lpstr>
      <vt:lpstr>Planning</vt:lpstr>
      <vt:lpstr>Présentation PowerPoint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Fonctions avancées</vt:lpstr>
      <vt:lpstr>Présentation PowerPoint</vt:lpstr>
      <vt:lpstr>Compléments</vt:lpstr>
      <vt:lpstr>Compléments</vt:lpstr>
      <vt:lpstr>Compléments</vt:lpstr>
      <vt:lpstr>Compléments</vt:lpstr>
      <vt:lpstr>Compléments</vt:lpstr>
      <vt:lpstr>Compléments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7</cp:revision>
  <dcterms:created xsi:type="dcterms:W3CDTF">2026-01-29T17:27:36Z</dcterms:created>
  <dcterms:modified xsi:type="dcterms:W3CDTF">2026-02-04T20:21:35Z</dcterms:modified>
</cp:coreProperties>
</file>